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648" y="-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5489425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endParaRPr lang="en-IN"/>
          </a:p>
        </p:txBody>
      </p:sp>
      <p:sp>
        <p:nvSpPr>
          <p:cNvPr id="9" name="Slide Number Placeholder 8"/>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endParaRPr lang="en-IN"/>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vcjagani/VCJ_FDP_BV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479376" y="2044576"/>
            <a:ext cx="10212916" cy="1168400"/>
          </a:xfrm>
          <a:prstGeom prst="rect">
            <a:avLst/>
          </a:prstGeom>
          <a:noFill/>
          <a:ln>
            <a:noFill/>
          </a:ln>
        </p:spPr>
        <p:txBody>
          <a:bodyPr spcFirstLastPara="1" wrap="square" lIns="91425" tIns="45700" rIns="91425" bIns="45700" anchor="b" anchorCtr="0">
            <a:normAutofit fontScale="90000"/>
          </a:bodyPr>
          <a:lstStyle/>
          <a:p>
            <a:pPr lvl="0" algn="ctr">
              <a:lnSpc>
                <a:spcPct val="90000"/>
              </a:lnSpc>
              <a:spcBef>
                <a:spcPts val="0"/>
              </a:spcBef>
              <a:buSzPts val="6000"/>
            </a:pPr>
            <a:r>
              <a:rPr lang="en-US" b="1" dirty="0"/>
              <a:t>IBM University Engagement Project </a:t>
            </a:r>
            <a:r>
              <a:rPr lang="en-US" b="1" dirty="0" smtClean="0"/>
              <a:t>Submission</a:t>
            </a:r>
            <a:br>
              <a:rPr lang="en-US" b="1" dirty="0" smtClean="0"/>
            </a:br>
            <a:r>
              <a:rPr lang="en-US" b="1" dirty="0" smtClean="0"/>
              <a:t/>
            </a:r>
            <a:br>
              <a:rPr lang="en-US" b="1" dirty="0" smtClean="0"/>
            </a:br>
            <a:r>
              <a:rPr lang="en-US" b="1" dirty="0">
                <a:latin typeface="Times New Roman" panose="02020603050405020304" pitchFamily="18" charset="0"/>
                <a:cs typeface="Times New Roman" panose="02020603050405020304" pitchFamily="18" charset="0"/>
              </a:rPr>
              <a:t>Smart Study Generator Agent</a:t>
            </a:r>
            <a:endParaRPr dirty="0"/>
          </a:p>
        </p:txBody>
      </p:sp>
      <p:sp>
        <p:nvSpPr>
          <p:cNvPr id="79" name="Google Shape;79;p33"/>
          <p:cNvSpPr txBox="1">
            <a:spLocks noGrp="1"/>
          </p:cNvSpPr>
          <p:nvPr>
            <p:ph type="body" idx="1"/>
          </p:nvPr>
        </p:nvSpPr>
        <p:spPr>
          <a:xfrm>
            <a:off x="983432" y="5013176"/>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t>
            </a:r>
            <a:r>
              <a:rPr lang="en-US" b="1" i="1" dirty="0" err="1"/>
              <a:t>Agentic</a:t>
            </a:r>
            <a:r>
              <a:rPr lang="en-US" b="1" i="1" dirty="0"/>
              <a:t> AI with IBM Granite and </a:t>
            </a:r>
            <a:r>
              <a:rPr lang="en-US" b="1" i="1" dirty="0" err="1"/>
              <a:t>LangFlow</a:t>
            </a:r>
            <a:r>
              <a:rPr lang="en-US" b="1" i="1" dirty="0" smtClean="0"/>
              <a:t>”</a:t>
            </a:r>
          </a:p>
          <a:p>
            <a:pPr marL="457200" lvl="0" indent="-228600" algn="ctr" rtl="0">
              <a:lnSpc>
                <a:spcPct val="90000"/>
              </a:lnSpc>
              <a:spcBef>
                <a:spcPts val="1000"/>
              </a:spcBef>
              <a:spcAft>
                <a:spcPts val="0"/>
              </a:spcAft>
              <a:buSzPts val="2400"/>
              <a:buNone/>
            </a:pPr>
            <a:r>
              <a:rPr lang="en-US" b="1" i="1" dirty="0" err="1" smtClean="0"/>
              <a:t>Virendra</a:t>
            </a:r>
            <a:r>
              <a:rPr lang="en-US" b="1" i="1" dirty="0" err="1" smtClean="0"/>
              <a:t>kumar</a:t>
            </a:r>
            <a:r>
              <a:rPr lang="en-US" b="1" i="1" dirty="0" smtClean="0"/>
              <a:t> C. </a:t>
            </a:r>
            <a:r>
              <a:rPr lang="en-US" b="1" i="1" dirty="0" err="1" smtClean="0"/>
              <a:t>Jagani</a:t>
            </a:r>
            <a:r>
              <a:rPr lang="en-US" b="1" i="1" dirty="0" smtClean="0"/>
              <a:t> </a:t>
            </a:r>
            <a:r>
              <a:rPr lang="en-US" b="1" i="1" dirty="0" smtClean="0"/>
              <a:t>(Government Polytechnic, </a:t>
            </a:r>
            <a:r>
              <a:rPr lang="en-US" b="1" i="1" dirty="0" err="1" smtClean="0"/>
              <a:t>Junagadh</a:t>
            </a:r>
            <a:r>
              <a:rPr lang="en-US" b="1" i="1" dirty="0" smtClean="0"/>
              <a: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331866795"/>
              </p:ext>
            </p:extLst>
          </p:nvPr>
        </p:nvGraphicFramePr>
        <p:xfrm>
          <a:off x="1299257" y="2600315"/>
          <a:ext cx="9395000" cy="2728013"/>
        </p:xfrm>
        <a:graphic>
          <a:graphicData uri="http://schemas.openxmlformats.org/drawingml/2006/table">
            <a:tbl>
              <a:tblPr>
                <a:noFill/>
                <a:tableStyleId>{72DA409A-753F-43E9-88D9-1875949E996A}</a:tableStyleId>
              </a:tblPr>
              <a:tblGrid>
                <a:gridCol w="2064875"/>
                <a:gridCol w="2443375"/>
                <a:gridCol w="2443375"/>
                <a:gridCol w="2443375"/>
              </a:tblGrid>
              <a:tr h="68466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smtClean="0">
                          <a:latin typeface="Times New Roman" panose="02020603050405020304" pitchFamily="18" charset="0"/>
                          <a:cs typeface="Times New Roman" panose="02020603050405020304" pitchFamily="18" charset="0"/>
                        </a:rPr>
                        <a:t>Faculty </a:t>
                      </a:r>
                      <a:r>
                        <a:rPr lang="en-US" sz="1800" u="none" strike="noStrike" cap="none" dirty="0">
                          <a:latin typeface="Times New Roman" panose="02020603050405020304" pitchFamily="18" charset="0"/>
                          <a:cs typeface="Times New Roman" panose="02020603050405020304" pitchFamily="18" charset="0"/>
                        </a:rPr>
                        <a:t>Name</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panose="02020603050405020304" pitchFamily="18" charset="0"/>
                          <a:cs typeface="Times New Roman" panose="02020603050405020304" pitchFamily="18" charset="0"/>
                        </a:rPr>
                        <a:t>Recent Passport Photo</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Email ID </a:t>
                      </a:r>
                      <a:endParaRPr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Mobile number</a:t>
                      </a:r>
                      <a:endParaRPr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[WhatsApp] </a:t>
                      </a:r>
                      <a:endParaRPr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2043344">
                <a:tc>
                  <a:txBody>
                    <a:bodyPr/>
                    <a:lstStyle/>
                    <a:p>
                      <a:pPr marL="0" marR="0" lvl="0" indent="0" algn="l" rtl="0">
                        <a:lnSpc>
                          <a:spcPct val="100000"/>
                        </a:lnSpc>
                        <a:spcBef>
                          <a:spcPts val="0"/>
                        </a:spcBef>
                        <a:spcAft>
                          <a:spcPts val="0"/>
                        </a:spcAft>
                        <a:buClr>
                          <a:srgbClr val="000000"/>
                        </a:buClr>
                        <a:buSzPts val="1400"/>
                        <a:buFont typeface="Arial"/>
                        <a:buNone/>
                      </a:pPr>
                      <a:r>
                        <a:rPr lang="en-IN" sz="1800" b="1" u="none" strike="noStrike" cap="none" dirty="0" err="1" smtClean="0">
                          <a:latin typeface="Times New Roman" panose="02020603050405020304" pitchFamily="18" charset="0"/>
                          <a:cs typeface="Times New Roman" panose="02020603050405020304" pitchFamily="18" charset="0"/>
                        </a:rPr>
                        <a:t>Virendrakumar</a:t>
                      </a:r>
                      <a:r>
                        <a:rPr lang="en-IN" sz="1800" b="1" u="none" strike="noStrike" cap="none" dirty="0" smtClean="0">
                          <a:latin typeface="Times New Roman" panose="02020603050405020304" pitchFamily="18" charset="0"/>
                          <a:cs typeface="Times New Roman" panose="02020603050405020304" pitchFamily="18" charset="0"/>
                        </a:rPr>
                        <a:t> C. </a:t>
                      </a:r>
                      <a:r>
                        <a:rPr lang="en-IN" sz="1800" b="1" u="none" strike="noStrike" cap="none" dirty="0" err="1" smtClean="0">
                          <a:latin typeface="Times New Roman" panose="02020603050405020304" pitchFamily="18" charset="0"/>
                          <a:cs typeface="Times New Roman" panose="02020603050405020304" pitchFamily="18" charset="0"/>
                        </a:rPr>
                        <a:t>Jagani</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800" b="1" u="none" strike="noStrike" cap="none" dirty="0" smtClean="0">
                          <a:latin typeface="Times New Roman" panose="02020603050405020304" pitchFamily="18" charset="0"/>
                          <a:cs typeface="Times New Roman" panose="02020603050405020304" pitchFamily="18" charset="0"/>
                        </a:rPr>
                        <a:t>vcjagani@gmail.com</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IN" sz="2000" b="1" u="none" strike="noStrike" cap="none" dirty="0" smtClean="0">
                          <a:latin typeface="Times New Roman" panose="02020603050405020304" pitchFamily="18" charset="0"/>
                          <a:cs typeface="Times New Roman" panose="02020603050405020304" pitchFamily="18" charset="0"/>
                        </a:rPr>
                        <a:t>94262 27523</a:t>
                      </a:r>
                      <a:endParaRPr sz="2000" b="1"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1" u="none" strike="noStrike" cap="none" dirty="0" smtClean="0">
                <a:solidFill>
                  <a:srgbClr val="000000"/>
                </a:solidFill>
                <a:latin typeface="Arial"/>
                <a:ea typeface="Arial"/>
                <a:cs typeface="Arial"/>
                <a:sym typeface="Arial"/>
              </a:rPr>
              <a:t>Education</a:t>
            </a:r>
            <a:endParaRPr sz="2400" b="1" i="1"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71464" y="551965"/>
            <a:ext cx="9505056" cy="461624"/>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US" sz="2400" b="1" i="1" dirty="0"/>
              <a:t>Smart Study Generator Agent</a:t>
            </a:r>
            <a:endParaRPr sz="2400" b="1" i="1" u="none" strike="noStrike" cap="none" dirty="0">
              <a:solidFill>
                <a:srgbClr val="000000"/>
              </a:solidFill>
              <a:highlight>
                <a:srgbClr val="FFFF00"/>
              </a:highlight>
              <a:sym typeface="Arial"/>
            </a:endParaRPr>
          </a:p>
        </p:txBody>
      </p:sp>
      <p:pic>
        <p:nvPicPr>
          <p:cNvPr id="2" name="Picture 2" descr="Principal Pho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6362" y="3356992"/>
            <a:ext cx="1519558" cy="19442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735323"/>
            <a:ext cx="10344464" cy="5632271"/>
          </a:xfrm>
          <a:prstGeom prst="rect">
            <a:avLst/>
          </a:prstGeom>
          <a:noFill/>
          <a:ln>
            <a:noFill/>
          </a:ln>
        </p:spPr>
        <p:txBody>
          <a:bodyPr spcFirstLastPara="1" wrap="square" lIns="91425" tIns="45700" rIns="91425" bIns="45700" anchor="t" anchorCtr="0">
            <a:spAutoFit/>
          </a:bodyPr>
          <a:lstStyle/>
          <a:p>
            <a:r>
              <a:rPr lang="en-US" sz="1800" dirty="0">
                <a:latin typeface="Times New Roman" panose="02020603050405020304" pitchFamily="18" charset="0"/>
                <a:cs typeface="Times New Roman" panose="02020603050405020304" pitchFamily="18" charset="0"/>
              </a:rPr>
              <a:t>Problem Statement No.13: Smart Study Generator Agent </a:t>
            </a:r>
          </a:p>
          <a:p>
            <a:r>
              <a:rPr lang="en-US" sz="1800" dirty="0">
                <a:latin typeface="Times New Roman" panose="02020603050405020304" pitchFamily="18" charset="0"/>
                <a:cs typeface="Times New Roman" panose="02020603050405020304" pitchFamily="18" charset="0"/>
              </a:rPr>
              <a:t>The Challenge </a:t>
            </a:r>
          </a:p>
          <a:p>
            <a:r>
              <a:rPr lang="en-US" sz="1800" dirty="0">
                <a:latin typeface="Times New Roman" panose="02020603050405020304" pitchFamily="18" charset="0"/>
                <a:cs typeface="Times New Roman" panose="02020603050405020304" pitchFamily="18" charset="0"/>
              </a:rPr>
              <a:t>Students today face an overwhelming flood of information—lecture notes, textbooks, research </a:t>
            </a:r>
          </a:p>
          <a:p>
            <a:r>
              <a:rPr lang="en-US" sz="1800" dirty="0">
                <a:latin typeface="Times New Roman" panose="02020603050405020304" pitchFamily="18" charset="0"/>
                <a:cs typeface="Times New Roman" panose="02020603050405020304" pitchFamily="18" charset="0"/>
              </a:rPr>
              <a:t>papers, YouTube tutorials, and online resources. This content is scattered, unorganized, and </a:t>
            </a:r>
          </a:p>
          <a:p>
            <a:r>
              <a:rPr lang="en-US" sz="1800" dirty="0">
                <a:latin typeface="Times New Roman" panose="02020603050405020304" pitchFamily="18" charset="0"/>
                <a:cs typeface="Times New Roman" panose="02020603050405020304" pitchFamily="18" charset="0"/>
              </a:rPr>
              <a:t>often not personalized to their learning pace or style. As a result, students struggle with finding </a:t>
            </a:r>
          </a:p>
          <a:p>
            <a:r>
              <a:rPr lang="en-US" sz="1800" dirty="0">
                <a:latin typeface="Times New Roman" panose="02020603050405020304" pitchFamily="18" charset="0"/>
                <a:cs typeface="Times New Roman" panose="02020603050405020304" pitchFamily="18" charset="0"/>
              </a:rPr>
              <a:t>the right study material, summarizing key concepts, and staying exam-ready. Traditional study </a:t>
            </a:r>
          </a:p>
          <a:p>
            <a:r>
              <a:rPr lang="en-US" sz="1800" dirty="0">
                <a:latin typeface="Times New Roman" panose="02020603050405020304" pitchFamily="18" charset="0"/>
                <a:cs typeface="Times New Roman" panose="02020603050405020304" pitchFamily="18" charset="0"/>
              </a:rPr>
              <a:t>tools only provide static notes or flashcards, failing to adapt dynamically to student needs. The </a:t>
            </a:r>
          </a:p>
          <a:p>
            <a:r>
              <a:rPr lang="en-US" sz="1800" dirty="0">
                <a:latin typeface="Times New Roman" panose="02020603050405020304" pitchFamily="18" charset="0"/>
                <a:cs typeface="Times New Roman" panose="02020603050405020304" pitchFamily="18" charset="0"/>
              </a:rPr>
              <a:t>challenge is to move beyond static resources toward an intelligent, adaptive study companion. </a:t>
            </a:r>
          </a:p>
          <a:p>
            <a:r>
              <a:rPr lang="en-US" sz="1800" dirty="0">
                <a:latin typeface="Times New Roman" panose="02020603050405020304" pitchFamily="18" charset="0"/>
                <a:cs typeface="Times New Roman" panose="02020603050405020304" pitchFamily="18" charset="0"/>
              </a:rPr>
              <a:t>The Objective </a:t>
            </a:r>
          </a:p>
          <a:p>
            <a:r>
              <a:rPr lang="en-US" sz="1800" dirty="0">
                <a:latin typeface="Times New Roman" panose="02020603050405020304" pitchFamily="18" charset="0"/>
                <a:cs typeface="Times New Roman" panose="02020603050405020304" pitchFamily="18" charset="0"/>
              </a:rPr>
              <a:t>Build an </a:t>
            </a:r>
            <a:r>
              <a:rPr lang="en-US" sz="1800" dirty="0" err="1">
                <a:latin typeface="Times New Roman" panose="02020603050405020304" pitchFamily="18" charset="0"/>
                <a:cs typeface="Times New Roman" panose="02020603050405020304" pitchFamily="18" charset="0"/>
              </a:rPr>
              <a:t>agentic</a:t>
            </a:r>
            <a:r>
              <a:rPr lang="en-US" sz="1800" dirty="0">
                <a:latin typeface="Times New Roman" panose="02020603050405020304" pitchFamily="18" charset="0"/>
                <a:cs typeface="Times New Roman" panose="02020603050405020304" pitchFamily="18" charset="0"/>
              </a:rPr>
              <a:t> AI-powered Smart Study Generator that personalizes and streamlines learning </a:t>
            </a:r>
          </a:p>
          <a:p>
            <a:r>
              <a:rPr lang="en-US" sz="1800" dirty="0">
                <a:latin typeface="Times New Roman" panose="02020603050405020304" pitchFamily="18" charset="0"/>
                <a:cs typeface="Times New Roman" panose="02020603050405020304" pitchFamily="18" charset="0"/>
              </a:rPr>
              <a:t>for students. The solution should: </a:t>
            </a:r>
          </a:p>
          <a:p>
            <a:r>
              <a:rPr lang="en-US" sz="1800" dirty="0">
                <a:latin typeface="Times New Roman" panose="02020603050405020304" pitchFamily="18" charset="0"/>
                <a:cs typeface="Times New Roman" panose="02020603050405020304" pitchFamily="18" charset="0"/>
              </a:rPr>
              <a:t>1. Fuse Learning Resources: Aggregate content from class notes, textbooks, research </a:t>
            </a:r>
          </a:p>
          <a:p>
            <a:r>
              <a:rPr lang="en-US" sz="1800" dirty="0">
                <a:latin typeface="Times New Roman" panose="02020603050405020304" pitchFamily="18" charset="0"/>
                <a:cs typeface="Times New Roman" panose="02020603050405020304" pitchFamily="18" charset="0"/>
              </a:rPr>
              <a:t>articles, and online tutorials into structured, easy-to-digest study material. </a:t>
            </a:r>
          </a:p>
          <a:p>
            <a:r>
              <a:rPr lang="en-US" sz="1800" dirty="0">
                <a:latin typeface="Times New Roman" panose="02020603050405020304" pitchFamily="18" charset="0"/>
                <a:cs typeface="Times New Roman" panose="02020603050405020304" pitchFamily="18" charset="0"/>
              </a:rPr>
              <a:t>2. Enable Multimodal Input: Allow students to upload notes, voice queries, or images (e.g., </a:t>
            </a:r>
          </a:p>
          <a:p>
            <a:r>
              <a:rPr lang="en-US" sz="1800" dirty="0">
                <a:latin typeface="Times New Roman" panose="02020603050405020304" pitchFamily="18" charset="0"/>
                <a:cs typeface="Times New Roman" panose="02020603050405020304" pitchFamily="18" charset="0"/>
              </a:rPr>
              <a:t>textbook pages), and generate concise summaries, flashcards, or concept maps. </a:t>
            </a:r>
          </a:p>
          <a:p>
            <a:r>
              <a:rPr lang="en-US" sz="1800" dirty="0">
                <a:latin typeface="Times New Roman" panose="02020603050405020304" pitchFamily="18" charset="0"/>
                <a:cs typeface="Times New Roman" panose="02020603050405020304" pitchFamily="18" charset="0"/>
              </a:rPr>
              <a:t>3. Create a Predictive &amp; </a:t>
            </a:r>
            <a:r>
              <a:rPr lang="en-US" sz="1800" dirty="0" err="1">
                <a:latin typeface="Times New Roman" panose="02020603050405020304" pitchFamily="18" charset="0"/>
                <a:cs typeface="Times New Roman" panose="02020603050405020304" pitchFamily="18" charset="0"/>
              </a:rPr>
              <a:t>Agentic</a:t>
            </a:r>
            <a:r>
              <a:rPr lang="en-US" sz="1800" dirty="0">
                <a:latin typeface="Times New Roman" panose="02020603050405020304" pitchFamily="18" charset="0"/>
                <a:cs typeface="Times New Roman" panose="02020603050405020304" pitchFamily="18" charset="0"/>
              </a:rPr>
              <a:t> Layer: Recommend personalized study plans, highlight </a:t>
            </a:r>
          </a:p>
          <a:p>
            <a:r>
              <a:rPr lang="en-US" sz="1800" dirty="0">
                <a:latin typeface="Times New Roman" panose="02020603050405020304" pitchFamily="18" charset="0"/>
                <a:cs typeface="Times New Roman" panose="02020603050405020304" pitchFamily="18" charset="0"/>
              </a:rPr>
              <a:t>important topics based on syllabus or past exams, and provide predictive alerts (e.g., “Focus </a:t>
            </a:r>
          </a:p>
          <a:p>
            <a:r>
              <a:rPr lang="en-US" sz="1800" dirty="0">
                <a:latin typeface="Times New Roman" panose="02020603050405020304" pitchFamily="18" charset="0"/>
                <a:cs typeface="Times New Roman" panose="02020603050405020304" pitchFamily="18" charset="0"/>
              </a:rPr>
              <a:t>on Topic X—frequently asked in exams”). </a:t>
            </a:r>
          </a:p>
          <a:p>
            <a:r>
              <a:rPr lang="en-US" sz="1800" dirty="0">
                <a:latin typeface="Times New Roman" panose="02020603050405020304" pitchFamily="18" charset="0"/>
                <a:cs typeface="Times New Roman" panose="02020603050405020304" pitchFamily="18" charset="0"/>
              </a:rPr>
              <a:t>4. Visualize Study Progress: Offer a real-time dashboard showing learning milestones, </a:t>
            </a:r>
          </a:p>
          <a:p>
            <a:r>
              <a:rPr lang="en-US" sz="1800" dirty="0">
                <a:latin typeface="Times New Roman" panose="02020603050405020304" pitchFamily="18" charset="0"/>
                <a:cs typeface="Times New Roman" panose="02020603050405020304" pitchFamily="18" charset="0"/>
              </a:rPr>
              <a:t>weak areas, practice quizzes, and performance forecasts. </a:t>
            </a:r>
            <a:endParaRPr lang="en-US" sz="1800" dirty="0" smtClean="0">
              <a:latin typeface="Times New Roman" panose="02020603050405020304" pitchFamily="18" charset="0"/>
              <a:cs typeface="Times New Roman" panose="02020603050405020304" pitchFamily="18" charset="0"/>
            </a:endParaRPr>
          </a:p>
        </p:txBody>
      </p:sp>
      <p:sp>
        <p:nvSpPr>
          <p:cNvPr id="95" name="Google Shape;95;p34"/>
          <p:cNvSpPr txBox="1"/>
          <p:nvPr/>
        </p:nvSpPr>
        <p:spPr>
          <a:xfrm>
            <a:off x="576072" y="242423"/>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i="0" u="none" strike="noStrike" cap="none" dirty="0" smtClean="0">
                <a:solidFill>
                  <a:srgbClr val="000000"/>
                </a:solidFill>
                <a:latin typeface="Times New Roman" panose="02020603050405020304" pitchFamily="18" charset="0"/>
                <a:cs typeface="Times New Roman" panose="02020603050405020304" pitchFamily="18" charset="0"/>
                <a:sym typeface="Arial"/>
              </a:rPr>
              <a:t>Tech </a:t>
            </a:r>
            <a:r>
              <a:rPr lang="en-US" sz="3600" b="1" i="0" u="none" strike="noStrike" cap="none" dirty="0">
                <a:solidFill>
                  <a:srgbClr val="000000"/>
                </a:solidFill>
                <a:latin typeface="Times New Roman" panose="02020603050405020304" pitchFamily="18" charset="0"/>
                <a:cs typeface="Times New Roman" panose="02020603050405020304" pitchFamily="18" charset="0"/>
                <a:sym typeface="Arial"/>
              </a:rPr>
              <a:t>Stack (Mandatory)</a:t>
            </a:r>
            <a:r>
              <a:rPr lang="en-US" sz="3600" b="0" i="0" u="none" strike="noStrike" cap="none" dirty="0">
                <a:solidFill>
                  <a:srgbClr val="000000"/>
                </a:solidFill>
                <a:latin typeface="Times New Roman" panose="02020603050405020304" pitchFamily="18" charset="0"/>
                <a:cs typeface="Times New Roman" panose="02020603050405020304" pitchFamily="18" charset="0"/>
                <a:sym typeface="Arial"/>
              </a:rPr>
              <a:t> </a:t>
            </a:r>
            <a:endParaRPr sz="36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r>
              <a:rPr lang="en-US" sz="3600" b="0" i="0" u="none" strike="noStrike" cap="none" dirty="0">
                <a:solidFill>
                  <a:srgbClr val="000000"/>
                </a:solidFill>
                <a:latin typeface="Times New Roman" panose="02020603050405020304" pitchFamily="18" charset="0"/>
                <a:cs typeface="Times New Roman" panose="02020603050405020304" pitchFamily="18" charset="0"/>
                <a:sym typeface="Arial"/>
              </a:rPr>
              <a:t>Use </a:t>
            </a:r>
            <a:r>
              <a:rPr lang="en-US" sz="3600" b="1" i="0" u="none" strike="noStrike" cap="none" dirty="0">
                <a:solidFill>
                  <a:srgbClr val="000000"/>
                </a:solidFill>
                <a:latin typeface="Times New Roman" panose="02020603050405020304" pitchFamily="18" charset="0"/>
                <a:cs typeface="Times New Roman" panose="02020603050405020304" pitchFamily="18" charset="0"/>
                <a:sym typeface="Arial"/>
              </a:rPr>
              <a:t>any one</a:t>
            </a:r>
            <a:r>
              <a:rPr lang="en-US" sz="3600" b="0" i="0" u="none" strike="noStrike" cap="none" dirty="0">
                <a:solidFill>
                  <a:srgbClr val="000000"/>
                </a:solidFill>
                <a:latin typeface="Times New Roman" panose="02020603050405020304" pitchFamily="18" charset="0"/>
                <a:cs typeface="Times New Roman" panose="02020603050405020304" pitchFamily="18" charset="0"/>
                <a:sym typeface="Arial"/>
              </a:rPr>
              <a:t> of the following approaches: </a:t>
            </a:r>
            <a:endParaRPr sz="3600" dirty="0">
              <a:latin typeface="Times New Roman" panose="02020603050405020304" pitchFamily="18" charset="0"/>
              <a:cs typeface="Times New Roman" panose="02020603050405020304" pitchFamily="18" charset="0"/>
            </a:endParaRPr>
          </a:p>
          <a:p>
            <a:pPr marL="809625" marR="0" lvl="0" indent="-425450" algn="l" rtl="0">
              <a:lnSpc>
                <a:spcPct val="100000"/>
              </a:lnSpc>
              <a:spcBef>
                <a:spcPts val="0"/>
              </a:spcBef>
              <a:spcAft>
                <a:spcPts val="0"/>
              </a:spcAft>
              <a:buClr>
                <a:srgbClr val="000000"/>
              </a:buClr>
              <a:buSzPts val="3600"/>
              <a:buFont typeface="Arial"/>
              <a:buChar char="•"/>
            </a:pPr>
            <a:r>
              <a:rPr lang="en-US" sz="3200" b="0" i="0" u="none" strike="noStrike" cap="none" dirty="0" err="1">
                <a:solidFill>
                  <a:srgbClr val="000000"/>
                </a:solidFill>
                <a:latin typeface="Times New Roman" panose="02020603050405020304" pitchFamily="18" charset="0"/>
                <a:cs typeface="Times New Roman" panose="02020603050405020304" pitchFamily="18" charset="0"/>
                <a:sym typeface="Arial"/>
              </a:rPr>
              <a:t>LangFlow</a:t>
            </a:r>
            <a:r>
              <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rPr>
              <a:t> + IBM watsonx.ai + Granite Models </a:t>
            </a:r>
            <a:endParaRPr sz="3200" dirty="0">
              <a:latin typeface="Times New Roman" panose="02020603050405020304" pitchFamily="18" charset="0"/>
              <a:cs typeface="Times New Roman" panose="02020603050405020304" pitchFamily="18" charset="0"/>
            </a:endParaRPr>
          </a:p>
          <a:p>
            <a:pPr marL="809625" marR="0" lvl="0" indent="-425450" algn="l" rtl="0">
              <a:lnSpc>
                <a:spcPct val="100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rPr>
              <a:t>IBM Cloud </a:t>
            </a:r>
            <a:r>
              <a:rPr lang="en-US" sz="3200" b="0" i="0" u="none" strike="noStrike" cap="none" dirty="0" err="1">
                <a:solidFill>
                  <a:srgbClr val="000000"/>
                </a:solidFill>
                <a:latin typeface="Times New Roman" panose="02020603050405020304" pitchFamily="18" charset="0"/>
                <a:cs typeface="Times New Roman" panose="02020603050405020304" pitchFamily="18" charset="0"/>
                <a:sym typeface="Arial"/>
              </a:rPr>
              <a:t>Agentic</a:t>
            </a:r>
            <a:r>
              <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rPr>
              <a:t> Lab with IBM Granite Models </a:t>
            </a:r>
            <a:endParaRPr sz="3200" dirty="0">
              <a:latin typeface="Times New Roman" panose="02020603050405020304" pitchFamily="18" charset="0"/>
              <a:cs typeface="Times New Roman" panose="02020603050405020304" pitchFamily="18" charset="0"/>
            </a:endParaRPr>
          </a:p>
          <a:p>
            <a:pPr marL="809625" marR="0" lvl="0" indent="-425450" algn="l" rtl="0">
              <a:lnSpc>
                <a:spcPct val="100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rPr>
              <a:t>Replicate with </a:t>
            </a:r>
            <a:r>
              <a:rPr lang="en-US" sz="3200" b="0" i="0" u="none" strike="noStrike" cap="none" dirty="0" err="1">
                <a:solidFill>
                  <a:srgbClr val="000000"/>
                </a:solidFill>
                <a:latin typeface="Times New Roman" panose="02020603050405020304" pitchFamily="18" charset="0"/>
                <a:cs typeface="Times New Roman" panose="02020603050405020304" pitchFamily="18" charset="0"/>
                <a:sym typeface="Arial"/>
              </a:rPr>
              <a:t>LangChain</a:t>
            </a:r>
            <a:r>
              <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rPr>
              <a:t> + RAG + IBM Granite Models</a:t>
            </a:r>
            <a:endParaRPr sz="3200" dirty="0">
              <a:latin typeface="Times New Roman" panose="02020603050405020304" pitchFamily="18" charset="0"/>
              <a:cs typeface="Times New Roman" panose="02020603050405020304" pitchFamily="18" charset="0"/>
            </a:endParaRPr>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lvl="0"/>
            <a:r>
              <a:rPr lang="en-US" sz="3600" b="0" i="0" u="none" strike="noStrike" cap="none" dirty="0">
                <a:solidFill>
                  <a:srgbClr val="000000"/>
                </a:solidFill>
                <a:latin typeface="Times New Roman" panose="02020603050405020304" pitchFamily="18" charset="0"/>
                <a:cs typeface="Times New Roman" panose="02020603050405020304" pitchFamily="18" charset="0"/>
                <a:sym typeface="Arial"/>
              </a:rPr>
              <a:t>I </a:t>
            </a:r>
            <a:r>
              <a:rPr lang="en-US" sz="3600" dirty="0">
                <a:latin typeface="Times New Roman" panose="02020603050405020304" pitchFamily="18" charset="0"/>
                <a:cs typeface="Times New Roman" panose="02020603050405020304" pitchFamily="18" charset="0"/>
              </a:rPr>
              <a:t>used </a:t>
            </a:r>
            <a:r>
              <a:rPr lang="en-US" sz="3600" b="1" dirty="0" err="1">
                <a:latin typeface="Times New Roman" panose="02020603050405020304" pitchFamily="18" charset="0"/>
                <a:cs typeface="Times New Roman" panose="02020603050405020304" pitchFamily="18" charset="0"/>
              </a:rPr>
              <a:t>LangFlow</a:t>
            </a:r>
            <a:r>
              <a:rPr lang="en-US" sz="3600" b="1" dirty="0">
                <a:latin typeface="Times New Roman" panose="02020603050405020304" pitchFamily="18" charset="0"/>
                <a:cs typeface="Times New Roman" panose="02020603050405020304" pitchFamily="18" charset="0"/>
              </a:rPr>
              <a:t> + IBM watsonx.ai + Granite Models</a:t>
            </a:r>
            <a:endParaRPr sz="1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667497" y="411720"/>
            <a:ext cx="721461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Technology Used </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4955162"/>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Proposed Solution: </a:t>
            </a:r>
            <a:r>
              <a:rPr lang="en-US" sz="2000" b="1" dirty="0" err="1">
                <a:latin typeface="Times New Roman" panose="02020603050405020304" pitchFamily="18" charset="0"/>
                <a:cs typeface="Times New Roman" panose="02020603050405020304" pitchFamily="18" charset="0"/>
              </a:rPr>
              <a:t>Agentic</a:t>
            </a:r>
            <a:r>
              <a:rPr lang="en-US" sz="2000" b="1" dirty="0">
                <a:latin typeface="Times New Roman" panose="02020603050405020304" pitchFamily="18" charset="0"/>
                <a:cs typeface="Times New Roman" panose="02020603050405020304" pitchFamily="18" charset="0"/>
              </a:rPr>
              <a:t> AI for Smart Study Generator</a:t>
            </a:r>
          </a:p>
          <a:p>
            <a:r>
              <a:rPr lang="en-US" sz="2000" dirty="0">
                <a:latin typeface="Times New Roman" panose="02020603050405020304" pitchFamily="18" charset="0"/>
                <a:cs typeface="Times New Roman" panose="02020603050405020304" pitchFamily="18" charset="0"/>
              </a:rPr>
              <a:t>Develop an AI-powered Smart Study Generator using </a:t>
            </a:r>
            <a:r>
              <a:rPr lang="en-US" sz="2000" b="1" dirty="0" err="1">
                <a:latin typeface="Times New Roman" panose="02020603050405020304" pitchFamily="18" charset="0"/>
                <a:cs typeface="Times New Roman" panose="02020603050405020304" pitchFamily="18" charset="0"/>
              </a:rPr>
              <a:t>LangFlow</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IBM watsonx.ai</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Granite Models</a:t>
            </a:r>
            <a:r>
              <a:rPr lang="en-US" sz="2000" dirty="0">
                <a:latin typeface="Times New Roman" panose="02020603050405020304" pitchFamily="18" charset="0"/>
                <a:cs typeface="Times New Roman" panose="02020603050405020304" pitchFamily="18" charset="0"/>
              </a:rPr>
              <a:t> to create personalized study plans, simplify complex topics, and improve exam preparation through intelligent learning assistance</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Key Capabilities:</a:t>
            </a:r>
            <a:endParaRPr lang="en-US" sz="2000" dirty="0">
              <a:latin typeface="Times New Roman" panose="02020603050405020304" pitchFamily="18" charset="0"/>
              <a:cs typeface="Times New Roman" panose="02020603050405020304" pitchFamily="18" charset="0"/>
            </a:endParaRPr>
          </a:p>
          <a:p>
            <a:pPr>
              <a:buFont typeface="Arial"/>
              <a:buChar char="•"/>
            </a:pPr>
            <a:r>
              <a:rPr lang="en-US" sz="2000" b="1" dirty="0">
                <a:latin typeface="Times New Roman" panose="02020603050405020304" pitchFamily="18" charset="0"/>
                <a:cs typeface="Times New Roman" panose="02020603050405020304" pitchFamily="18" charset="0"/>
              </a:rPr>
              <a:t>Personalized Study Plans</a:t>
            </a:r>
            <a:r>
              <a:rPr lang="en-US" sz="2000" dirty="0">
                <a:latin typeface="Times New Roman" panose="02020603050405020304" pitchFamily="18" charset="0"/>
                <a:cs typeface="Times New Roman" panose="02020603050405020304" pitchFamily="18" charset="0"/>
              </a:rPr>
              <a:t> – Generates customized learning schedules. </a:t>
            </a:r>
          </a:p>
          <a:p>
            <a:pPr>
              <a:buFont typeface="Arial"/>
              <a:buChar char="•"/>
            </a:pPr>
            <a:r>
              <a:rPr lang="en-US" sz="2000" b="1" dirty="0">
                <a:latin typeface="Times New Roman" panose="02020603050405020304" pitchFamily="18" charset="0"/>
                <a:cs typeface="Times New Roman" panose="02020603050405020304" pitchFamily="18" charset="0"/>
              </a:rPr>
              <a:t>Concept Simplification</a:t>
            </a:r>
            <a:r>
              <a:rPr lang="en-US" sz="2000" dirty="0">
                <a:latin typeface="Times New Roman" panose="02020603050405020304" pitchFamily="18" charset="0"/>
                <a:cs typeface="Times New Roman" panose="02020603050405020304" pitchFamily="18" charset="0"/>
              </a:rPr>
              <a:t> – Breaks complex topics into easy-to-understand modules. </a:t>
            </a:r>
          </a:p>
          <a:p>
            <a:pPr>
              <a:buFont typeface="Arial"/>
              <a:buChar char="•"/>
            </a:pPr>
            <a:r>
              <a:rPr lang="en-US" sz="2000" b="1" dirty="0">
                <a:latin typeface="Times New Roman" panose="02020603050405020304" pitchFamily="18" charset="0"/>
                <a:cs typeface="Times New Roman" panose="02020603050405020304" pitchFamily="18" charset="0"/>
              </a:rPr>
              <a:t>Knowledge Fusion</a:t>
            </a:r>
            <a:r>
              <a:rPr lang="en-US" sz="2000" dirty="0">
                <a:latin typeface="Times New Roman" panose="02020603050405020304" pitchFamily="18" charset="0"/>
                <a:cs typeface="Times New Roman" panose="02020603050405020304" pitchFamily="18" charset="0"/>
              </a:rPr>
              <a:t> – Combines insights from textbooks, notes, and learning resources. </a:t>
            </a:r>
          </a:p>
          <a:p>
            <a:pPr>
              <a:buFont typeface="Arial"/>
              <a:buChar char="•"/>
            </a:pPr>
            <a:r>
              <a:rPr lang="en-US" sz="2000" b="1" dirty="0">
                <a:latin typeface="Times New Roman" panose="02020603050405020304" pitchFamily="18" charset="0"/>
                <a:cs typeface="Times New Roman" panose="02020603050405020304" pitchFamily="18" charset="0"/>
              </a:rPr>
              <a:t>Predictive Learning Insights</a:t>
            </a:r>
            <a:r>
              <a:rPr lang="en-US" sz="2000" dirty="0">
                <a:latin typeface="Times New Roman" panose="02020603050405020304" pitchFamily="18" charset="0"/>
                <a:cs typeface="Times New Roman" panose="02020603050405020304" pitchFamily="18" charset="0"/>
              </a:rPr>
              <a:t> – Identifies weak areas and high-priority exam topics. </a:t>
            </a:r>
          </a:p>
          <a:p>
            <a:pPr>
              <a:buFont typeface="Arial"/>
              <a:buChar char="•"/>
            </a:pPr>
            <a:r>
              <a:rPr lang="en-US" sz="2000" b="1" dirty="0">
                <a:latin typeface="Times New Roman" panose="02020603050405020304" pitchFamily="18" charset="0"/>
                <a:cs typeface="Times New Roman" panose="02020603050405020304" pitchFamily="18" charset="0"/>
              </a:rPr>
              <a:t>Interactive Practice</a:t>
            </a:r>
            <a:r>
              <a:rPr lang="en-US" sz="2000" dirty="0">
                <a:latin typeface="Times New Roman" panose="02020603050405020304" pitchFamily="18" charset="0"/>
                <a:cs typeface="Times New Roman" panose="02020603050405020304" pitchFamily="18" charset="0"/>
              </a:rPr>
              <a:t> – Creates quizzes, flashcards, and active-recall exercises. </a:t>
            </a:r>
          </a:p>
          <a:p>
            <a:pPr>
              <a:buFont typeface="Arial"/>
              <a:buChar char="•"/>
            </a:pPr>
            <a:r>
              <a:rPr lang="en-US" sz="2000" b="1" dirty="0">
                <a:latin typeface="Times New Roman" panose="02020603050405020304" pitchFamily="18" charset="0"/>
                <a:cs typeface="Times New Roman" panose="02020603050405020304" pitchFamily="18" charset="0"/>
              </a:rPr>
              <a:t>Study Progress Dashboard</a:t>
            </a:r>
            <a:r>
              <a:rPr lang="en-US" sz="2000" dirty="0">
                <a:latin typeface="Times New Roman" panose="02020603050405020304" pitchFamily="18" charset="0"/>
                <a:cs typeface="Times New Roman" panose="02020603050405020304" pitchFamily="18" charset="0"/>
              </a:rPr>
              <a:t> – Tracks learning milestones and exam readiness. </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acts as an intelligent AI study companion, providing personalized guidance, predictive insights, and structured learning support.</a:t>
            </a:r>
          </a:p>
          <a:p>
            <a:pPr marL="0" marR="0" lvl="0" indent="0" algn="l" rtl="0">
              <a:lnSpc>
                <a:spcPct val="100000"/>
              </a:lnSpc>
              <a:spcBef>
                <a:spcPts val="0"/>
              </a:spcBef>
              <a:spcAft>
                <a:spcPts val="0"/>
              </a:spcAft>
              <a:buNone/>
            </a:pPr>
            <a:endParaRPr sz="16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37518" y="1196752"/>
            <a:ext cx="10589730" cy="4154943"/>
          </a:xfrm>
          <a:prstGeom prst="rect">
            <a:avLst/>
          </a:prstGeom>
          <a:noFill/>
          <a:ln>
            <a:noFill/>
          </a:ln>
        </p:spPr>
        <p:txBody>
          <a:bodyPr spcFirstLastPara="1" wrap="square" lIns="91425" tIns="45700" rIns="91425" bIns="45700" anchor="t" anchorCtr="0">
            <a:spAutoFit/>
          </a:bodyPr>
          <a:lstStyle/>
          <a:p>
            <a:r>
              <a:rPr lang="en-IN" sz="2400" b="1" dirty="0" smtClean="0">
                <a:latin typeface="Times New Roman" panose="02020603050405020304" pitchFamily="18" charset="0"/>
                <a:cs typeface="Times New Roman" panose="02020603050405020304" pitchFamily="18" charset="0"/>
              </a:rPr>
              <a:t>1</a:t>
            </a:r>
            <a:r>
              <a:rPr lang="en-IN" sz="2400" b="1" dirty="0">
                <a:latin typeface="Times New Roman" panose="02020603050405020304" pitchFamily="18" charset="0"/>
                <a:cs typeface="Times New Roman" panose="02020603050405020304" pitchFamily="18" charset="0"/>
              </a:rPr>
              <a:t>) Chat Input</a:t>
            </a:r>
            <a:r>
              <a:rPr lang="en-IN" sz="2400" dirty="0">
                <a:latin typeface="Times New Roman" panose="02020603050405020304" pitchFamily="18" charset="0"/>
                <a:cs typeface="Times New Roman" panose="02020603050405020304" pitchFamily="18" charset="0"/>
              </a:rPr>
              <a:t> → Interface where students enter subjects, topics, exam goals, study schedules, learning difficulties, or academic queries through a conversational chat interface.</a:t>
            </a:r>
          </a:p>
          <a:p>
            <a:r>
              <a:rPr lang="en-IN" sz="2400" b="1" dirty="0">
                <a:latin typeface="Times New Roman" panose="02020603050405020304" pitchFamily="18" charset="0"/>
                <a:cs typeface="Times New Roman" panose="02020603050405020304" pitchFamily="18" charset="0"/>
              </a:rPr>
              <a:t>2) IBM </a:t>
            </a:r>
            <a:r>
              <a:rPr lang="en-IN" sz="2400" b="1" dirty="0" err="1">
                <a:latin typeface="Times New Roman" panose="02020603050405020304" pitchFamily="18" charset="0"/>
                <a:cs typeface="Times New Roman" panose="02020603050405020304" pitchFamily="18" charset="0"/>
              </a:rPr>
              <a:t>watsonx</a:t>
            </a:r>
            <a:r>
              <a:rPr lang="en-IN" sz="2400" b="1" dirty="0">
                <a:latin typeface="Times New Roman" panose="02020603050405020304" pitchFamily="18" charset="0"/>
                <a:cs typeface="Times New Roman" panose="02020603050405020304" pitchFamily="18" charset="0"/>
              </a:rPr>
              <a:t> AI Agent</a:t>
            </a:r>
            <a:r>
              <a:rPr lang="en-IN" sz="2400" dirty="0">
                <a:latin typeface="Times New Roman" panose="02020603050405020304" pitchFamily="18" charset="0"/>
                <a:cs typeface="Times New Roman" panose="02020603050405020304" pitchFamily="18" charset="0"/>
              </a:rPr>
              <a:t> → Processes user inputs using Granite models to generate personalized study plans, simplify concepts, identify weak areas, and provide exam preparation guidance.</a:t>
            </a:r>
          </a:p>
          <a:p>
            <a:r>
              <a:rPr lang="en-IN" sz="2400" b="1" dirty="0">
                <a:latin typeface="Times New Roman" panose="02020603050405020304" pitchFamily="18" charset="0"/>
                <a:cs typeface="Times New Roman" panose="02020603050405020304" pitchFamily="18" charset="0"/>
              </a:rPr>
              <a:t>3) Name of IBM Granite Model – Granite-4.0-H-Small</a:t>
            </a:r>
            <a:r>
              <a:rPr lang="en-IN" sz="2400" dirty="0">
                <a:latin typeface="Times New Roman" panose="02020603050405020304" pitchFamily="18" charset="0"/>
                <a:cs typeface="Times New Roman" panose="02020603050405020304" pitchFamily="18" charset="0"/>
              </a:rPr>
              <a:t> → Fast and efficient for real-time learning support, concept explanation, study planning, predictive learning insights, and educational assistance.</a:t>
            </a:r>
          </a:p>
          <a:p>
            <a:r>
              <a:rPr lang="en-IN" sz="2400" b="1" dirty="0">
                <a:latin typeface="Times New Roman" panose="02020603050405020304" pitchFamily="18" charset="0"/>
                <a:cs typeface="Times New Roman" panose="02020603050405020304" pitchFamily="18" charset="0"/>
              </a:rPr>
              <a:t>4) Chat Output</a:t>
            </a:r>
            <a:r>
              <a:rPr lang="en-IN" sz="2400" dirty="0">
                <a:latin typeface="Times New Roman" panose="02020603050405020304" pitchFamily="18" charset="0"/>
                <a:cs typeface="Times New Roman" panose="02020603050405020304" pitchFamily="18" charset="0"/>
              </a:rPr>
              <a:t> → Displays AI-generated study plans, concept summaries, quizzes, flashcards, exam tips, progress insights, and personalized learning recommendations.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76" y="1268760"/>
            <a:ext cx="10058400" cy="46327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sp>
        <p:nvSpPr>
          <p:cNvPr id="2" name="AutoShape 2" descr=", AI generate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 AI generate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087" y="775411"/>
            <a:ext cx="10532972" cy="5749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265233" y="58114"/>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4524275"/>
          </a:xfrm>
          <a:prstGeom prst="rect">
            <a:avLst/>
          </a:prstGeom>
          <a:noFill/>
          <a:ln>
            <a:noFill/>
          </a:ln>
        </p:spPr>
        <p:txBody>
          <a:bodyPr spcFirstLastPara="1" wrap="square" lIns="91425" tIns="45700" rIns="91425" bIns="45700" anchor="t" anchorCtr="0">
            <a:spAutoFit/>
          </a:bodyPr>
          <a:lstStyle/>
          <a:p>
            <a:r>
              <a:rPr lang="en-US" sz="2400" b="1" dirty="0">
                <a:latin typeface="Times New Roman" panose="02020603050405020304" pitchFamily="18" charset="0"/>
                <a:cs typeface="Times New Roman" panose="02020603050405020304" pitchFamily="18" charset="0"/>
              </a:rPr>
              <a:t>Role of </a:t>
            </a:r>
            <a:r>
              <a:rPr lang="en-US" sz="2400" b="1" dirty="0" err="1">
                <a:latin typeface="Times New Roman" panose="02020603050405020304" pitchFamily="18" charset="0"/>
                <a:cs typeface="Times New Roman" panose="02020603050405020304" pitchFamily="18" charset="0"/>
              </a:rPr>
              <a:t>Agentic</a:t>
            </a:r>
            <a:r>
              <a:rPr lang="en-US" sz="2400" b="1" dirty="0">
                <a:latin typeface="Times New Roman" panose="02020603050405020304" pitchFamily="18" charset="0"/>
                <a:cs typeface="Times New Roman" panose="02020603050405020304" pitchFamily="18" charset="0"/>
              </a:rPr>
              <a:t> AI in Smart Study Generator </a:t>
            </a:r>
            <a:r>
              <a:rPr lang="en-US" sz="2400" b="1" dirty="0" smtClean="0">
                <a:latin typeface="Times New Roman" panose="02020603050405020304" pitchFamily="18" charset="0"/>
                <a:cs typeface="Times New Roman" panose="02020603050405020304" pitchFamily="18" charset="0"/>
              </a:rPr>
              <a:t>Agent</a:t>
            </a:r>
          </a:p>
          <a:p>
            <a:endParaRPr lang="en-US" sz="2400" b="1"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Agentic</a:t>
            </a:r>
            <a:r>
              <a:rPr lang="en-US" sz="2400" dirty="0">
                <a:latin typeface="Times New Roman" panose="02020603050405020304" pitchFamily="18" charset="0"/>
                <a:cs typeface="Times New Roman" panose="02020603050405020304" pitchFamily="18" charset="0"/>
              </a:rPr>
              <a:t> AI enables the system to deliver personalized, structured, and adaptive learning support. Powered by IBM watsonx.ai and Granite-4.0-H-Small, it understands student learning needs, analyzes academic goals, simplifies complex concepts, and generates customized study plans. It can identify weak areas, provide predictive exam insights, and create quizzes, flashcards, and revision strategies, acting as an intelligent AI-powered study companion for effective exam preparation and learning improvement.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Technology Used</a:t>
            </a:r>
            <a:endParaRPr sz="3200" b="1" i="0" u="none" strike="noStrike" cap="none" dirty="0">
              <a:solidFill>
                <a:srgbClr val="000000"/>
              </a:solidFill>
              <a:latin typeface="Arial"/>
              <a:ea typeface="Arial"/>
              <a:cs typeface="Arial"/>
              <a:sym typeface="Arial"/>
            </a:endParaRPr>
          </a:p>
        </p:txBody>
      </p:sp>
      <p:sp>
        <p:nvSpPr>
          <p:cNvPr id="144" name="Google Shape;144;p39"/>
          <p:cNvSpPr txBox="1"/>
          <p:nvPr/>
        </p:nvSpPr>
        <p:spPr>
          <a:xfrm>
            <a:off x="777240" y="1207008"/>
            <a:ext cx="10359320" cy="5262939"/>
          </a:xfrm>
          <a:prstGeom prst="rect">
            <a:avLst/>
          </a:prstGeom>
          <a:noFill/>
          <a:ln>
            <a:noFill/>
          </a:ln>
        </p:spPr>
        <p:txBody>
          <a:bodyPr spcFirstLastPara="1" wrap="square" lIns="91425" tIns="45700" rIns="91425" bIns="45700" anchor="t" anchorCtr="0">
            <a:spAutoFit/>
          </a:bodyPr>
          <a:lstStyle/>
          <a:p>
            <a:pPr marL="457200" indent="-457200">
              <a:buFont typeface="Arial" panose="020B0604020202020204" pitchFamily="34" charset="0"/>
              <a:buChar char="•"/>
            </a:pPr>
            <a:r>
              <a:rPr lang="en-US" sz="2800" b="1" dirty="0" err="1" smtClean="0">
                <a:latin typeface="Times New Roman" panose="02020603050405020304" pitchFamily="18" charset="0"/>
                <a:cs typeface="Times New Roman" panose="02020603050405020304" pitchFamily="18" charset="0"/>
              </a:rPr>
              <a:t>LangFlow</a:t>
            </a:r>
            <a:r>
              <a:rPr lang="en-US" sz="2800" b="1"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Platform</a:t>
            </a:r>
            <a:r>
              <a:rPr lang="en-US" sz="2800" dirty="0">
                <a:latin typeface="Times New Roman" panose="02020603050405020304" pitchFamily="18" charset="0"/>
                <a:cs typeface="Times New Roman" panose="02020603050405020304" pitchFamily="18" charset="0"/>
              </a:rPr>
              <a:t> – Used for designing and orchestrating multi-agent workflows, enabling seamless coordination between idea generation, trend analysis, and idea evaluation agents.</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IBM Granite Model</a:t>
            </a:r>
            <a:r>
              <a:rPr lang="en-US" sz="2800" dirty="0">
                <a:latin typeface="Times New Roman" panose="02020603050405020304" pitchFamily="18" charset="0"/>
                <a:cs typeface="Times New Roman" panose="02020603050405020304" pitchFamily="18" charset="0"/>
              </a:rPr>
              <a:t> – </a:t>
            </a:r>
            <a:r>
              <a:rPr lang="en-US" sz="2800" b="1" dirty="0">
                <a:latin typeface="Times New Roman" panose="02020603050405020304" pitchFamily="18" charset="0"/>
                <a:cs typeface="Times New Roman" panose="02020603050405020304" pitchFamily="18" charset="0"/>
              </a:rPr>
              <a:t>Granite-4.0-H-Small</a:t>
            </a:r>
            <a:r>
              <a:rPr lang="en-US" sz="2800" dirty="0">
                <a:latin typeface="Times New Roman" panose="02020603050405020304" pitchFamily="18" charset="0"/>
                <a:cs typeface="Times New Roman" panose="02020603050405020304" pitchFamily="18" charset="0"/>
              </a:rPr>
              <a:t> is used for natural language understanding, creative idea generation, trend reasoning, and business opportunity recommendations.</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IBM Cloud</a:t>
            </a:r>
            <a:r>
              <a:rPr lang="en-US" sz="2800" dirty="0">
                <a:latin typeface="Times New Roman" panose="02020603050405020304" pitchFamily="18" charset="0"/>
                <a:cs typeface="Times New Roman" panose="02020603050405020304" pitchFamily="18" charset="0"/>
              </a:rPr>
              <a:t> – Provides a secure, scalable, and reliable infrastructure to deploy and manage the Smart Business Idea Generator.</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IBM watsonx.ai</a:t>
            </a:r>
            <a:r>
              <a:rPr lang="en-US" sz="2800" dirty="0">
                <a:latin typeface="Times New Roman" panose="02020603050405020304" pitchFamily="18" charset="0"/>
                <a:cs typeface="Times New Roman" panose="02020603050405020304" pitchFamily="18" charset="0"/>
              </a:rPr>
              <a:t> – Used for model deployment, prompt orchestration, AI governance, and enabling responsible AI-powered idea generation and trend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6068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dirty="0">
                <a:solidFill>
                  <a:srgbClr val="000000"/>
                </a:solidFill>
                <a:latin typeface="Arial"/>
                <a:ea typeface="Arial"/>
                <a:cs typeface="Arial"/>
                <a:sym typeface="Arial"/>
              </a:rPr>
              <a:t>Token Usage </a:t>
            </a:r>
            <a:endParaRPr sz="2400" b="1" i="0" u="none" strike="noStrike" cap="none" dirty="0">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32" y="620688"/>
            <a:ext cx="8416120" cy="61649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6068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dirty="0" smtClean="0">
                <a:solidFill>
                  <a:srgbClr val="000000"/>
                </a:solidFill>
                <a:latin typeface="Arial"/>
                <a:ea typeface="Arial"/>
                <a:cs typeface="Arial"/>
                <a:sym typeface="Arial"/>
              </a:rPr>
              <a:t>Working interface</a:t>
            </a:r>
            <a:endParaRPr sz="2400" b="1" i="0" u="none" strike="noStrike" cap="none" dirty="0">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958" y="620688"/>
            <a:ext cx="8912569" cy="5968844"/>
          </a:xfrm>
          <a:prstGeom prst="rect">
            <a:avLst/>
          </a:prstGeom>
        </p:spPr>
      </p:pic>
    </p:spTree>
    <p:extLst>
      <p:ext uri="{BB962C8B-B14F-4D97-AF65-F5344CB8AC3E}">
        <p14:creationId xmlns:p14="http://schemas.microsoft.com/office/powerpoint/2010/main" val="4187167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61" name="Google Shape;161;p41"/>
          <p:cNvSpPr txBox="1"/>
          <p:nvPr/>
        </p:nvSpPr>
        <p:spPr>
          <a:xfrm>
            <a:off x="789392" y="993682"/>
            <a:ext cx="10359320" cy="6001603"/>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proposed Smart Study Generator combines </a:t>
            </a:r>
            <a:r>
              <a:rPr lang="en-US" sz="2400" b="1" dirty="0" err="1">
                <a:latin typeface="Times New Roman" panose="02020603050405020304" pitchFamily="18" charset="0"/>
                <a:cs typeface="Times New Roman" panose="02020603050405020304" pitchFamily="18" charset="0"/>
              </a:rPr>
              <a:t>Agentic</a:t>
            </a:r>
            <a:r>
              <a:rPr lang="en-US" sz="2400" b="1" dirty="0">
                <a:latin typeface="Times New Roman" panose="02020603050405020304" pitchFamily="18" charset="0"/>
                <a:cs typeface="Times New Roman" panose="02020603050405020304" pitchFamily="18" charset="0"/>
              </a:rPr>
              <a:t> AI, personalization, and predictive learning intelligence</a:t>
            </a:r>
            <a:r>
              <a:rPr lang="en-US" sz="2400" dirty="0">
                <a:latin typeface="Times New Roman" panose="02020603050405020304" pitchFamily="18" charset="0"/>
                <a:cs typeface="Times New Roman" panose="02020603050405020304" pitchFamily="18" charset="0"/>
              </a:rPr>
              <a:t> into a single intelligent system.</a:t>
            </a:r>
          </a:p>
          <a:p>
            <a:pPr marL="342900" indent="-3429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Agentic</a:t>
            </a:r>
            <a:r>
              <a:rPr lang="en-US" sz="2400" b="1" dirty="0">
                <a:latin typeface="Times New Roman" panose="02020603050405020304" pitchFamily="18" charset="0"/>
                <a:cs typeface="Times New Roman" panose="02020603050405020304" pitchFamily="18" charset="0"/>
              </a:rPr>
              <a:t> AI Approach</a:t>
            </a:r>
            <a:r>
              <a:rPr lang="en-US" sz="2400" dirty="0">
                <a:latin typeface="Times New Roman" panose="02020603050405020304" pitchFamily="18" charset="0"/>
                <a:cs typeface="Times New Roman" panose="02020603050405020304" pitchFamily="18" charset="0"/>
              </a:rPr>
              <a:t> – Uses intelligent agents instead of a simple </a:t>
            </a:r>
            <a:r>
              <a:rPr lang="en-US" sz="2400" dirty="0" err="1">
                <a:latin typeface="Times New Roman" panose="02020603050405020304" pitchFamily="18" charset="0"/>
                <a:cs typeface="Times New Roman" panose="02020603050405020304" pitchFamily="18" charset="0"/>
              </a:rPr>
              <a:t>chatbot</a:t>
            </a:r>
            <a:r>
              <a:rPr lang="en-US" sz="2400" dirty="0">
                <a:latin typeface="Times New Roman" panose="02020603050405020304" pitchFamily="18" charset="0"/>
                <a:cs typeface="Times New Roman" panose="02020603050405020304" pitchFamily="18" charset="0"/>
              </a:rPr>
              <a:t> for context-aware learning assistance.</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AI-Powered Learning Support</a:t>
            </a:r>
            <a:r>
              <a:rPr lang="en-US" sz="2400" dirty="0">
                <a:latin typeface="Times New Roman" panose="02020603050405020304" pitchFamily="18" charset="0"/>
                <a:cs typeface="Times New Roman" panose="02020603050405020304" pitchFamily="18" charset="0"/>
              </a:rPr>
              <a:t> – Leverages IBM Granite to generate study plans, explanations, and exam guidance.</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Knowledge Fusion</a:t>
            </a:r>
            <a:r>
              <a:rPr lang="en-US" sz="2400" dirty="0">
                <a:latin typeface="Times New Roman" panose="02020603050405020304" pitchFamily="18" charset="0"/>
                <a:cs typeface="Times New Roman" panose="02020603050405020304" pitchFamily="18" charset="0"/>
              </a:rPr>
              <a:t> – Combines insights from textbooks, notes, and learning resources for better understanding.</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Predictive Learning Insights</a:t>
            </a:r>
            <a:r>
              <a:rPr lang="en-US" sz="2400" dirty="0">
                <a:latin typeface="Times New Roman" panose="02020603050405020304" pitchFamily="18" charset="0"/>
                <a:cs typeface="Times New Roman" panose="02020603050405020304" pitchFamily="18" charset="0"/>
              </a:rPr>
              <a:t> – Identifies weak areas and predicts important exam topics.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Personalized Recommendations</a:t>
            </a:r>
            <a:r>
              <a:rPr lang="en-US" sz="2400" dirty="0">
                <a:latin typeface="Times New Roman" panose="02020603050405020304" pitchFamily="18" charset="0"/>
                <a:cs typeface="Times New Roman" panose="02020603050405020304" pitchFamily="18" charset="0"/>
              </a:rPr>
              <a:t> – Provides tailored study plans, quizzes, and revision strategies.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IBM-Driven Architecture</a:t>
            </a:r>
            <a:r>
              <a:rPr lang="en-US" sz="2400" dirty="0">
                <a:latin typeface="Times New Roman" panose="02020603050405020304" pitchFamily="18" charset="0"/>
                <a:cs typeface="Times New Roman" panose="02020603050405020304" pitchFamily="18" charset="0"/>
              </a:rPr>
              <a:t> – Built using watsonx.ai with governance for responsible and scalable AI.</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This makes the solution a smart, adaptive, and personalized AI learning companion.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err="1" smtClean="0">
                <a:solidFill>
                  <a:srgbClr val="000000"/>
                </a:solidFill>
                <a:latin typeface="Arial"/>
                <a:ea typeface="Arial"/>
                <a:cs typeface="Arial"/>
                <a:sym typeface="Arial"/>
              </a:rPr>
              <a:t>Git</a:t>
            </a:r>
            <a:r>
              <a:rPr lang="en-US" sz="2400" b="1"/>
              <a:t> </a:t>
            </a:r>
            <a:r>
              <a:rPr lang="en-US" sz="2400" b="1" i="0" u="none" strike="noStrike" cap="none" smtClean="0">
                <a:solidFill>
                  <a:srgbClr val="000000"/>
                </a:solidFill>
                <a:latin typeface="Arial"/>
                <a:ea typeface="Arial"/>
                <a:cs typeface="Arial"/>
                <a:sym typeface="Arial"/>
              </a:rPr>
              <a:t>Hub </a:t>
            </a:r>
            <a:r>
              <a:rPr lang="en-US" sz="2400" b="1" i="0" u="none" strike="noStrike" cap="none" dirty="0">
                <a:solidFill>
                  <a:srgbClr val="000000"/>
                </a:solidFill>
                <a:latin typeface="Arial"/>
                <a:ea typeface="Arial"/>
                <a:cs typeface="Arial"/>
                <a:sym typeface="Arial"/>
              </a:rPr>
              <a:t>Link</a:t>
            </a:r>
            <a:endParaRPr sz="2400" b="1" i="0" u="none" strike="noStrike" cap="none" dirty="0">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1412776"/>
            <a:ext cx="9773820"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800" b="1" dirty="0">
                <a:latin typeface="Times New Roman"/>
                <a:ea typeface="Times New Roman"/>
                <a:cs typeface="Times New Roman"/>
                <a:sym typeface="Times New Roman"/>
                <a:hlinkClick r:id="rId3"/>
              </a:rPr>
              <a:t>https://</a:t>
            </a:r>
            <a:r>
              <a:rPr lang="en-US" sz="2800" b="1" dirty="0" smtClean="0">
                <a:latin typeface="Times New Roman"/>
                <a:ea typeface="Times New Roman"/>
                <a:cs typeface="Times New Roman"/>
                <a:sym typeface="Times New Roman"/>
                <a:hlinkClick r:id="rId3"/>
              </a:rPr>
              <a:t>github.com/vcjagani/VCJ_FDP_BVM</a:t>
            </a:r>
            <a:endParaRPr lang="en-US" sz="2800" b="1" dirty="0" smtClean="0">
              <a:latin typeface="Times New Roman"/>
              <a:ea typeface="Times New Roman"/>
              <a:cs typeface="Times New Roman"/>
              <a:sym typeface="Times New Roman"/>
            </a:endParaRPr>
          </a:p>
          <a:p>
            <a:pPr lvl="0">
              <a:lnSpc>
                <a:spcPct val="162162"/>
              </a:lnSpc>
              <a:buClr>
                <a:srgbClr val="2B3541"/>
              </a:buClr>
              <a:buSzPts val="1850"/>
            </a:pPr>
            <a:endParaRPr sz="2800" b="1" i="0" u="none" strike="noStrike" cap="none" dirty="0">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839416" y="1221715"/>
            <a:ext cx="10297144" cy="5303629"/>
          </a:xfrm>
          <a:prstGeom prst="rect">
            <a:avLst/>
          </a:prstGeom>
          <a:noFill/>
          <a:ln>
            <a:noFill/>
          </a:ln>
        </p:spPr>
        <p:txBody>
          <a:bodyPr spcFirstLastPara="1" wrap="square" lIns="0" tIns="0" rIns="0" bIns="0" anchor="t" anchorCtr="0">
            <a:noAutofit/>
          </a:bodyPr>
          <a:lstStyle/>
          <a:p>
            <a:pPr marL="457200" indent="-457200">
              <a:buFont typeface="Arial" panose="020B0604020202020204" pitchFamily="34" charset="0"/>
              <a:buChar char="•"/>
            </a:pPr>
            <a:r>
              <a:rPr lang="en-US" sz="2700" b="1" dirty="0" smtClean="0">
                <a:latin typeface="Times New Roman" panose="02020603050405020304" pitchFamily="18" charset="0"/>
                <a:cs typeface="Times New Roman" panose="02020603050405020304" pitchFamily="18" charset="0"/>
              </a:rPr>
              <a:t>Advanced </a:t>
            </a:r>
            <a:r>
              <a:rPr lang="en-US" sz="2700" b="1" dirty="0">
                <a:latin typeface="Times New Roman" panose="02020603050405020304" pitchFamily="18" charset="0"/>
                <a:cs typeface="Times New Roman" panose="02020603050405020304" pitchFamily="18" charset="0"/>
              </a:rPr>
              <a:t>Trend &amp; Market Analysis</a:t>
            </a:r>
            <a:r>
              <a:rPr lang="en-US" sz="2700" dirty="0">
                <a:latin typeface="Times New Roman" panose="02020603050405020304" pitchFamily="18" charset="0"/>
                <a:cs typeface="Times New Roman" panose="02020603050405020304" pitchFamily="18" charset="0"/>
              </a:rPr>
              <a:t> – The system can be enhanced with real-time market intelligence and social media trend analysis to identify emerging learning and career skill demands more accurately.</a:t>
            </a:r>
          </a:p>
          <a:p>
            <a:pPr marL="457200" indent="-457200">
              <a:buFont typeface="Arial" panose="020B0604020202020204" pitchFamily="34" charset="0"/>
              <a:buChar char="•"/>
            </a:pPr>
            <a:r>
              <a:rPr lang="en-US" sz="2700" b="1" dirty="0">
                <a:latin typeface="Times New Roman" panose="02020603050405020304" pitchFamily="18" charset="0"/>
                <a:cs typeface="Times New Roman" panose="02020603050405020304" pitchFamily="18" charset="0"/>
              </a:rPr>
              <a:t>Multimodal Learning Support</a:t>
            </a:r>
            <a:r>
              <a:rPr lang="en-US" sz="2700" dirty="0">
                <a:latin typeface="Times New Roman" panose="02020603050405020304" pitchFamily="18" charset="0"/>
                <a:cs typeface="Times New Roman" panose="02020603050405020304" pitchFamily="18" charset="0"/>
              </a:rPr>
              <a:t> – The solution can be extended to support images, voice notes, and handwritten notes as inputs, enabling richer and more flexible learning assistance.</a:t>
            </a:r>
          </a:p>
          <a:p>
            <a:pPr marL="457200" indent="-457200">
              <a:buFont typeface="Arial" panose="020B0604020202020204" pitchFamily="34" charset="0"/>
              <a:buChar char="•"/>
            </a:pPr>
            <a:r>
              <a:rPr lang="en-US" sz="2700" b="1" dirty="0">
                <a:latin typeface="Times New Roman" panose="02020603050405020304" pitchFamily="18" charset="0"/>
                <a:cs typeface="Times New Roman" panose="02020603050405020304" pitchFamily="18" charset="0"/>
              </a:rPr>
              <a:t>Predictive Learning Scoring</a:t>
            </a:r>
            <a:r>
              <a:rPr lang="en-US" sz="2700" dirty="0">
                <a:latin typeface="Times New Roman" panose="02020603050405020304" pitchFamily="18" charset="0"/>
                <a:cs typeface="Times New Roman" panose="02020603050405020304" pitchFamily="18" charset="0"/>
              </a:rPr>
              <a:t> – AI models can forecast student performance, topic difficulty, and exam relevance to help learners focus on high-impact study areas.</a:t>
            </a:r>
          </a:p>
          <a:p>
            <a:pPr marL="457200" indent="-457200">
              <a:buFont typeface="Arial" panose="020B0604020202020204" pitchFamily="34" charset="0"/>
              <a:buChar char="•"/>
            </a:pPr>
            <a:r>
              <a:rPr lang="en-US" sz="2700" b="1" dirty="0">
                <a:latin typeface="Times New Roman" panose="02020603050405020304" pitchFamily="18" charset="0"/>
                <a:cs typeface="Times New Roman" panose="02020603050405020304" pitchFamily="18" charset="0"/>
              </a:rPr>
              <a:t>Interactive Learning Dashboard</a:t>
            </a:r>
            <a:r>
              <a:rPr lang="en-US" sz="2700" dirty="0">
                <a:latin typeface="Times New Roman" panose="02020603050405020304" pitchFamily="18" charset="0"/>
                <a:cs typeface="Times New Roman" panose="02020603050405020304" pitchFamily="18" charset="0"/>
              </a:rPr>
              <a:t> – A visual dashboard can be added to organize study plans, weak areas, progress tracking, and performance insights for better learning decision-making.</a:t>
            </a: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77</TotalTime>
  <Words>1055</Words>
  <Application>Microsoft Office PowerPoint</Application>
  <PresentationFormat>Custom</PresentationFormat>
  <Paragraphs>102</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Adjacency</vt:lpstr>
      <vt:lpstr>IBM University Engagement Project Submission  Smart Study Generator Agent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GPJ</cp:lastModifiedBy>
  <cp:revision>43</cp:revision>
  <dcterms:created xsi:type="dcterms:W3CDTF">2025-07-08T05:06:56Z</dcterms:created>
  <dcterms:modified xsi:type="dcterms:W3CDTF">2026-06-11T18:09:05Z</dcterms:modified>
</cp:coreProperties>
</file>